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TT Interphases" charset="1" panose="02000503020000020004"/>
      <p:regular r:id="rId15"/>
    </p:embeddedFont>
    <p:embeddedFont>
      <p:font typeface="TT Interphases Bold" charset="1" panose="02000803060000020004"/>
      <p:regular r:id="rId16"/>
    </p:embeddedFont>
    <p:embeddedFont>
      <p:font typeface="Open Sans" charset="1" panose="020B060603050402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688068" y="1028700"/>
            <a:ext cx="7571232" cy="8229600"/>
          </a:xfrm>
          <a:custGeom>
            <a:avLst/>
            <a:gdLst/>
            <a:ahLst/>
            <a:cxnLst/>
            <a:rect r="r" b="b" t="t" l="l"/>
            <a:pathLst>
              <a:path h="8229600" w="7571232">
                <a:moveTo>
                  <a:pt x="0" y="0"/>
                </a:moveTo>
                <a:lnTo>
                  <a:pt x="7571232" y="0"/>
                </a:lnTo>
                <a:lnTo>
                  <a:pt x="7571232"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686798" y="2662413"/>
            <a:ext cx="8708046" cy="4713693"/>
          </a:xfrm>
          <a:prstGeom prst="rect">
            <a:avLst/>
          </a:prstGeom>
        </p:spPr>
        <p:txBody>
          <a:bodyPr anchor="t" rtlCol="false" tIns="0" lIns="0" bIns="0" rIns="0">
            <a:spAutoFit/>
          </a:bodyPr>
          <a:lstStyle/>
          <a:p>
            <a:pPr algn="l">
              <a:lnSpc>
                <a:spcPts val="7306"/>
              </a:lnSpc>
            </a:pPr>
            <a:r>
              <a:rPr lang="en-US" sz="8398" spc="-411">
                <a:solidFill>
                  <a:srgbClr val="000000"/>
                </a:solidFill>
                <a:latin typeface="TT Interphases"/>
                <a:ea typeface="TT Interphases"/>
                <a:cs typeface="TT Interphases"/>
                <a:sym typeface="TT Interphases"/>
              </a:rPr>
              <a:t>Sistem Clustering Kemiskinan Wilayah di Indonesia Menggunakan K-Means</a:t>
            </a:r>
          </a:p>
        </p:txBody>
      </p:sp>
      <p:sp>
        <p:nvSpPr>
          <p:cNvPr name="Freeform 5" id="5"/>
          <p:cNvSpPr/>
          <p:nvPr/>
        </p:nvSpPr>
        <p:spPr>
          <a:xfrm flipH="false" flipV="false" rot="0">
            <a:off x="7600950" y="2050564"/>
            <a:ext cx="1543050" cy="1543050"/>
          </a:xfrm>
          <a:custGeom>
            <a:avLst/>
            <a:gdLst/>
            <a:ahLst/>
            <a:cxnLst/>
            <a:rect r="r" b="b" t="t" l="l"/>
            <a:pathLst>
              <a:path h="1543050" w="1543050">
                <a:moveTo>
                  <a:pt x="0" y="0"/>
                </a:moveTo>
                <a:lnTo>
                  <a:pt x="1543050" y="0"/>
                </a:lnTo>
                <a:lnTo>
                  <a:pt x="1543050" y="1543050"/>
                </a:lnTo>
                <a:lnTo>
                  <a:pt x="0" y="15430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566219" y="1108262"/>
            <a:ext cx="2033411"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Borcelle</a:t>
            </a:r>
          </a:p>
        </p:txBody>
      </p:sp>
      <p:sp>
        <p:nvSpPr>
          <p:cNvPr name="TextBox 7" id="7"/>
          <p:cNvSpPr txBox="true"/>
          <p:nvPr/>
        </p:nvSpPr>
        <p:spPr>
          <a:xfrm rot="0">
            <a:off x="15642929" y="9063228"/>
            <a:ext cx="1616371" cy="195072"/>
          </a:xfrm>
          <a:prstGeom prst="rect">
            <a:avLst/>
          </a:prstGeom>
        </p:spPr>
        <p:txBody>
          <a:bodyPr anchor="t" rtlCol="false" tIns="0" lIns="0" bIns="0" rIns="0">
            <a:spAutoFit/>
          </a:bodyPr>
          <a:lstStyle/>
          <a:p>
            <a:pPr algn="r">
              <a:lnSpc>
                <a:spcPts val="1479"/>
              </a:lnSpc>
            </a:pPr>
            <a:r>
              <a:rPr lang="en-US" sz="1700" spc="-83">
                <a:solidFill>
                  <a:srgbClr val="000000"/>
                </a:solidFill>
                <a:latin typeface="TT Interphases"/>
                <a:ea typeface="TT Interphases"/>
                <a:cs typeface="TT Interphases"/>
                <a:sym typeface="TT Interphases"/>
              </a:rPr>
              <a:t>24, Mei-2026 </a:t>
            </a:r>
          </a:p>
        </p:txBody>
      </p:sp>
      <p:sp>
        <p:nvSpPr>
          <p:cNvPr name="TextBox 8" id="8"/>
          <p:cNvSpPr txBox="true"/>
          <p:nvPr/>
        </p:nvSpPr>
        <p:spPr>
          <a:xfrm rot="0">
            <a:off x="686798" y="7745993"/>
            <a:ext cx="3190131" cy="1893803"/>
          </a:xfrm>
          <a:prstGeom prst="rect">
            <a:avLst/>
          </a:prstGeom>
        </p:spPr>
        <p:txBody>
          <a:bodyPr anchor="t" rtlCol="false" tIns="0" lIns="0" bIns="0" rIns="0">
            <a:spAutoFit/>
          </a:bodyPr>
          <a:lstStyle/>
          <a:p>
            <a:pPr algn="l">
              <a:lnSpc>
                <a:spcPts val="3767"/>
              </a:lnSpc>
            </a:pPr>
            <a:r>
              <a:rPr lang="en-US" sz="2690" b="true">
                <a:solidFill>
                  <a:srgbClr val="000000"/>
                </a:solidFill>
                <a:latin typeface="TT Interphases Bold"/>
                <a:ea typeface="TT Interphases Bold"/>
                <a:cs typeface="TT Interphases Bold"/>
                <a:sym typeface="TT Interphases Bold"/>
              </a:rPr>
              <a:t>Anggota kelompok :</a:t>
            </a:r>
          </a:p>
          <a:p>
            <a:pPr algn="l">
              <a:lnSpc>
                <a:spcPts val="3767"/>
              </a:lnSpc>
            </a:pPr>
            <a:r>
              <a:rPr lang="en-US" sz="2690" b="true">
                <a:solidFill>
                  <a:srgbClr val="000000"/>
                </a:solidFill>
                <a:latin typeface="TT Interphases Bold"/>
                <a:ea typeface="TT Interphases Bold"/>
                <a:cs typeface="TT Interphases Bold"/>
                <a:sym typeface="TT Interphases Bold"/>
              </a:rPr>
              <a:t>Aunal ghoribi</a:t>
            </a:r>
          </a:p>
          <a:p>
            <a:pPr algn="l">
              <a:lnSpc>
                <a:spcPts val="3767"/>
              </a:lnSpc>
            </a:pPr>
            <a:r>
              <a:rPr lang="en-US" sz="2690" b="true">
                <a:solidFill>
                  <a:srgbClr val="000000"/>
                </a:solidFill>
                <a:latin typeface="TT Interphases Bold"/>
                <a:ea typeface="TT Interphases Bold"/>
                <a:cs typeface="TT Interphases Bold"/>
                <a:sym typeface="TT Interphases Bold"/>
              </a:rPr>
              <a:t>Sultan hakim</a:t>
            </a:r>
          </a:p>
          <a:p>
            <a:pPr algn="l">
              <a:lnSpc>
                <a:spcPts val="3767"/>
              </a:lnSpc>
            </a:pPr>
            <a:r>
              <a:rPr lang="en-US" sz="2690" b="true">
                <a:solidFill>
                  <a:srgbClr val="000000"/>
                </a:solidFill>
                <a:latin typeface="TT Interphases Bold"/>
                <a:ea typeface="TT Interphases Bold"/>
                <a:cs typeface="TT Interphases Bold"/>
                <a:sym typeface="TT Interphases Bold"/>
              </a:rPr>
              <a:t>Afton ilman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5600" y="2245076"/>
            <a:ext cx="6894128" cy="6405272"/>
          </a:xfrm>
          <a:custGeom>
            <a:avLst/>
            <a:gdLst/>
            <a:ahLst/>
            <a:cxnLst/>
            <a:rect r="r" b="b" t="t" l="l"/>
            <a:pathLst>
              <a:path h="6405272" w="6894128">
                <a:moveTo>
                  <a:pt x="0" y="0"/>
                </a:moveTo>
                <a:lnTo>
                  <a:pt x="6894128" y="0"/>
                </a:lnTo>
                <a:lnTo>
                  <a:pt x="6894128" y="6405272"/>
                </a:lnTo>
                <a:lnTo>
                  <a:pt x="0" y="64052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6035449" y="1028700"/>
            <a:ext cx="1223851" cy="847795"/>
          </a:xfrm>
          <a:custGeom>
            <a:avLst/>
            <a:gdLst/>
            <a:ahLst/>
            <a:cxnLst/>
            <a:rect r="r" b="b" t="t" l="l"/>
            <a:pathLst>
              <a:path h="847795" w="1223851">
                <a:moveTo>
                  <a:pt x="1223851" y="0"/>
                </a:moveTo>
                <a:lnTo>
                  <a:pt x="0" y="0"/>
                </a:lnTo>
                <a:lnTo>
                  <a:pt x="0" y="847795"/>
                </a:lnTo>
                <a:lnTo>
                  <a:pt x="1223851" y="847795"/>
                </a:lnTo>
                <a:lnTo>
                  <a:pt x="122385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7705841" y="2530826"/>
            <a:ext cx="6234058" cy="202616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Latar Belakang </a:t>
            </a:r>
          </a:p>
        </p:txBody>
      </p:sp>
      <p:sp>
        <p:nvSpPr>
          <p:cNvPr name="TextBox 6" id="6"/>
          <p:cNvSpPr txBox="true"/>
          <p:nvPr/>
        </p:nvSpPr>
        <p:spPr>
          <a:xfrm rot="0">
            <a:off x="1566219" y="1108262"/>
            <a:ext cx="2033411"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Borcelle</a:t>
            </a:r>
          </a:p>
        </p:txBody>
      </p:sp>
      <p:sp>
        <p:nvSpPr>
          <p:cNvPr name="TextBox 7" id="7"/>
          <p:cNvSpPr txBox="true"/>
          <p:nvPr/>
        </p:nvSpPr>
        <p:spPr>
          <a:xfrm rot="0">
            <a:off x="7705841" y="4518886"/>
            <a:ext cx="10898623" cy="4074175"/>
          </a:xfrm>
          <a:prstGeom prst="rect">
            <a:avLst/>
          </a:prstGeom>
        </p:spPr>
        <p:txBody>
          <a:bodyPr anchor="t" rtlCol="false" tIns="0" lIns="0" bIns="0" rIns="0">
            <a:spAutoFit/>
          </a:bodyPr>
          <a:lstStyle/>
          <a:p>
            <a:pPr algn="l">
              <a:lnSpc>
                <a:spcPts val="2989"/>
              </a:lnSpc>
            </a:pPr>
            <a:r>
              <a:rPr lang="en-US" sz="2135" spc="-104">
                <a:solidFill>
                  <a:srgbClr val="000000"/>
                </a:solidFill>
                <a:latin typeface="TT Interphases"/>
                <a:ea typeface="TT Interphases"/>
                <a:cs typeface="TT Interphases"/>
                <a:sym typeface="TT Interphases"/>
              </a:rPr>
              <a:t>Kemiskinan masih menjadi masalah serius di indonesia karna berdampak langsung pada kualitas</a:t>
            </a:r>
          </a:p>
          <a:p>
            <a:pPr algn="l">
              <a:lnSpc>
                <a:spcPts val="2989"/>
              </a:lnSpc>
            </a:pPr>
            <a:r>
              <a:rPr lang="en-US" sz="2135" spc="-104">
                <a:solidFill>
                  <a:srgbClr val="000000"/>
                </a:solidFill>
                <a:latin typeface="TT Interphases"/>
                <a:ea typeface="TT Interphases"/>
                <a:cs typeface="TT Interphases"/>
                <a:sym typeface="TT Interphases"/>
              </a:rPr>
              <a:t>hidup masyarakat seperti akses pendidikan, kesehatan, dan kesempatan kerja. Data kemiskinan di</a:t>
            </a:r>
          </a:p>
          <a:p>
            <a:pPr algn="l">
              <a:lnSpc>
                <a:spcPts val="2989"/>
              </a:lnSpc>
            </a:pPr>
            <a:r>
              <a:rPr lang="en-US" sz="2135" spc="-104">
                <a:solidFill>
                  <a:srgbClr val="000000"/>
                </a:solidFill>
                <a:latin typeface="TT Interphases"/>
                <a:ea typeface="TT Interphases"/>
                <a:cs typeface="TT Interphases"/>
                <a:sym typeface="TT Interphases"/>
              </a:rPr>
              <a:t>Indonesia juga sangat beragam antar wilayah, sehingga diperlukan cara yang lebih efektif untuk</a:t>
            </a:r>
          </a:p>
          <a:p>
            <a:pPr algn="l">
              <a:lnSpc>
                <a:spcPts val="2989"/>
              </a:lnSpc>
            </a:pPr>
            <a:r>
              <a:rPr lang="en-US" sz="2135" spc="-104">
                <a:solidFill>
                  <a:srgbClr val="000000"/>
                </a:solidFill>
                <a:latin typeface="TT Interphases"/>
                <a:ea typeface="TT Interphases"/>
                <a:cs typeface="TT Interphases"/>
                <a:sym typeface="TT Interphases"/>
              </a:rPr>
              <a:t>memahami pola persebarannya. Oleh karena itu, dilakukan pengelompokan wilayah</a:t>
            </a:r>
          </a:p>
          <a:p>
            <a:pPr algn="l">
              <a:lnSpc>
                <a:spcPts val="2989"/>
              </a:lnSpc>
            </a:pPr>
            <a:r>
              <a:rPr lang="en-US" sz="2135" spc="-104">
                <a:solidFill>
                  <a:srgbClr val="000000"/>
                </a:solidFill>
                <a:latin typeface="TT Interphases"/>
                <a:ea typeface="TT Interphases"/>
                <a:cs typeface="TT Interphases"/>
                <a:sym typeface="TT Interphases"/>
              </a:rPr>
              <a:t>menggunakan metode clustering agar daerah-daerah dengan karakteristik kemiskinan yang mirip</a:t>
            </a:r>
          </a:p>
          <a:p>
            <a:pPr algn="l">
              <a:lnSpc>
                <a:spcPts val="2989"/>
              </a:lnSpc>
            </a:pPr>
            <a:r>
              <a:rPr lang="en-US" sz="2135" spc="-104">
                <a:solidFill>
                  <a:srgbClr val="000000"/>
                </a:solidFill>
                <a:latin typeface="TT Interphases"/>
                <a:ea typeface="TT Interphases"/>
                <a:cs typeface="TT Interphases"/>
                <a:sym typeface="TT Interphases"/>
              </a:rPr>
              <a:t>dapat diklasifikasikan dalam kelompok yang sama. Dalam penelitian ini digunakan algoritma</a:t>
            </a:r>
          </a:p>
          <a:p>
            <a:pPr algn="l">
              <a:lnSpc>
                <a:spcPts val="2989"/>
              </a:lnSpc>
            </a:pPr>
            <a:r>
              <a:rPr lang="en-US" sz="2135" spc="-104">
                <a:solidFill>
                  <a:srgbClr val="000000"/>
                </a:solidFill>
                <a:latin typeface="TT Interphases"/>
                <a:ea typeface="TT Interphases"/>
                <a:cs typeface="TT Interphases"/>
                <a:sym typeface="TT Interphases"/>
              </a:rPr>
              <a:t>KMeans karena mampu mengelompokkan data berdasarkan kemiripan nilai indikator tertentu</a:t>
            </a:r>
          </a:p>
          <a:p>
            <a:pPr algn="l">
              <a:lnSpc>
                <a:spcPts val="2989"/>
              </a:lnSpc>
            </a:pPr>
            <a:r>
              <a:rPr lang="en-US" sz="2135" spc="-104">
                <a:solidFill>
                  <a:srgbClr val="000000"/>
                </a:solidFill>
                <a:latin typeface="TT Interphases"/>
                <a:ea typeface="TT Interphases"/>
                <a:cs typeface="TT Interphases"/>
                <a:sym typeface="TT Interphases"/>
              </a:rPr>
              <a:t>secara cepat dan mudah diterapkan. Hasil pengelompokan ini diharapkan dapat memberikan</a:t>
            </a:r>
          </a:p>
          <a:p>
            <a:pPr algn="l">
              <a:lnSpc>
                <a:spcPts val="2989"/>
              </a:lnSpc>
            </a:pPr>
            <a:r>
              <a:rPr lang="en-US" sz="2135" spc="-104">
                <a:solidFill>
                  <a:srgbClr val="000000"/>
                </a:solidFill>
                <a:latin typeface="TT Interphases"/>
                <a:ea typeface="TT Interphases"/>
                <a:cs typeface="TT Interphases"/>
                <a:sym typeface="TT Interphases"/>
              </a:rPr>
              <a:t>gambaran yang lebih jelas mengenai kondisi kemiskinan antar wilayah di Indonesia serta</a:t>
            </a:r>
          </a:p>
          <a:p>
            <a:pPr algn="l">
              <a:lnSpc>
                <a:spcPts val="2989"/>
              </a:lnSpc>
            </a:pPr>
            <a:r>
              <a:rPr lang="en-US" sz="2135" spc="-104">
                <a:solidFill>
                  <a:srgbClr val="000000"/>
                </a:solidFill>
                <a:latin typeface="TT Interphases"/>
                <a:ea typeface="TT Interphases"/>
                <a:cs typeface="TT Interphases"/>
                <a:sym typeface="TT Interphases"/>
              </a:rPr>
              <a:t>membantu proses analisis dalam bentuk visualisasi seperti peta.</a:t>
            </a:r>
          </a:p>
          <a:p>
            <a:pPr algn="l">
              <a:lnSpc>
                <a:spcPts val="298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9272" y="2653612"/>
            <a:ext cx="11330502" cy="1684414"/>
          </a:xfrm>
          <a:custGeom>
            <a:avLst/>
            <a:gdLst/>
            <a:ahLst/>
            <a:cxnLst/>
            <a:rect r="r" b="b" t="t" l="l"/>
            <a:pathLst>
              <a:path h="1684414" w="11330502">
                <a:moveTo>
                  <a:pt x="0" y="0"/>
                </a:moveTo>
                <a:lnTo>
                  <a:pt x="11330502" y="0"/>
                </a:lnTo>
                <a:lnTo>
                  <a:pt x="11330502" y="1684414"/>
                </a:lnTo>
                <a:lnTo>
                  <a:pt x="0" y="1684414"/>
                </a:lnTo>
                <a:lnTo>
                  <a:pt x="0" y="0"/>
                </a:lnTo>
                <a:close/>
              </a:path>
            </a:pathLst>
          </a:custGeom>
          <a:blipFill>
            <a:blip r:embed="rId2"/>
            <a:stretch>
              <a:fillRect l="0" t="-16623" r="0" b="-88540"/>
            </a:stretch>
          </a:blipFill>
        </p:spPr>
      </p:sp>
      <p:sp>
        <p:nvSpPr>
          <p:cNvPr name="Freeform 3" id="3"/>
          <p:cNvSpPr/>
          <p:nvPr/>
        </p:nvSpPr>
        <p:spPr>
          <a:xfrm flipH="false" flipV="false" rot="0">
            <a:off x="0" y="4873600"/>
            <a:ext cx="10781230" cy="1602758"/>
          </a:xfrm>
          <a:custGeom>
            <a:avLst/>
            <a:gdLst/>
            <a:ahLst/>
            <a:cxnLst/>
            <a:rect r="r" b="b" t="t" l="l"/>
            <a:pathLst>
              <a:path h="1602758" w="10781230">
                <a:moveTo>
                  <a:pt x="0" y="0"/>
                </a:moveTo>
                <a:lnTo>
                  <a:pt x="10781230" y="0"/>
                </a:lnTo>
                <a:lnTo>
                  <a:pt x="10781230" y="1602758"/>
                </a:lnTo>
                <a:lnTo>
                  <a:pt x="0" y="1602758"/>
                </a:lnTo>
                <a:lnTo>
                  <a:pt x="0" y="0"/>
                </a:lnTo>
                <a:close/>
              </a:path>
            </a:pathLst>
          </a:custGeom>
          <a:blipFill>
            <a:blip r:embed="rId2"/>
            <a:stretch>
              <a:fillRect l="0" t="-16623" r="0" b="-88540"/>
            </a:stretch>
          </a:blipFill>
        </p:spPr>
      </p:sp>
      <p:sp>
        <p:nvSpPr>
          <p:cNvPr name="Freeform 4" id="4"/>
          <p:cNvSpPr/>
          <p:nvPr/>
        </p:nvSpPr>
        <p:spPr>
          <a:xfrm flipH="false" flipV="false" rot="0">
            <a:off x="0" y="7178193"/>
            <a:ext cx="10781230" cy="1602758"/>
          </a:xfrm>
          <a:custGeom>
            <a:avLst/>
            <a:gdLst/>
            <a:ahLst/>
            <a:cxnLst/>
            <a:rect r="r" b="b" t="t" l="l"/>
            <a:pathLst>
              <a:path h="1602758" w="10781230">
                <a:moveTo>
                  <a:pt x="0" y="0"/>
                </a:moveTo>
                <a:lnTo>
                  <a:pt x="10781230" y="0"/>
                </a:lnTo>
                <a:lnTo>
                  <a:pt x="10781230" y="1602759"/>
                </a:lnTo>
                <a:lnTo>
                  <a:pt x="0" y="1602759"/>
                </a:lnTo>
                <a:lnTo>
                  <a:pt x="0" y="0"/>
                </a:lnTo>
                <a:close/>
              </a:path>
            </a:pathLst>
          </a:custGeom>
          <a:blipFill>
            <a:blip r:embed="rId2"/>
            <a:stretch>
              <a:fillRect l="0" t="-16623" r="0" b="-88540"/>
            </a:stretch>
          </a:blipFill>
        </p:spPr>
      </p:sp>
      <p:sp>
        <p:nvSpPr>
          <p:cNvPr name="Freeform 5" id="5"/>
          <p:cNvSpPr/>
          <p:nvPr/>
        </p:nvSpPr>
        <p:spPr>
          <a:xfrm flipH="false" flipV="false" rot="0">
            <a:off x="10834173" y="2448715"/>
            <a:ext cx="7550829" cy="6452527"/>
          </a:xfrm>
          <a:custGeom>
            <a:avLst/>
            <a:gdLst/>
            <a:ahLst/>
            <a:cxnLst/>
            <a:rect r="r" b="b" t="t" l="l"/>
            <a:pathLst>
              <a:path h="6452527" w="7550829">
                <a:moveTo>
                  <a:pt x="0" y="0"/>
                </a:moveTo>
                <a:lnTo>
                  <a:pt x="7550830" y="0"/>
                </a:lnTo>
                <a:lnTo>
                  <a:pt x="7550830" y="6452527"/>
                </a:lnTo>
                <a:lnTo>
                  <a:pt x="0" y="64525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4002984" y="779613"/>
            <a:ext cx="9601274" cy="202616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Rumusan Masalah</a:t>
            </a:r>
          </a:p>
          <a:p>
            <a:pPr algn="l">
              <a:lnSpc>
                <a:spcPts val="7656"/>
              </a:lnSpc>
            </a:pPr>
          </a:p>
        </p:txBody>
      </p:sp>
      <p:sp>
        <p:nvSpPr>
          <p:cNvPr name="TextBox 7" id="7"/>
          <p:cNvSpPr txBox="true"/>
          <p:nvPr/>
        </p:nvSpPr>
        <p:spPr>
          <a:xfrm rot="0">
            <a:off x="-52943" y="3021171"/>
            <a:ext cx="10887117" cy="1589405"/>
          </a:xfrm>
          <a:prstGeom prst="rect">
            <a:avLst/>
          </a:prstGeom>
        </p:spPr>
        <p:txBody>
          <a:bodyPr anchor="t" rtlCol="false" tIns="0" lIns="0" bIns="0" rIns="0">
            <a:spAutoFit/>
          </a:bodyPr>
          <a:lstStyle/>
          <a:p>
            <a:pPr algn="ctr">
              <a:lnSpc>
                <a:spcPts val="3220"/>
              </a:lnSpc>
            </a:pPr>
            <a:r>
              <a:rPr lang="en-US" sz="2300">
                <a:solidFill>
                  <a:srgbClr val="000000"/>
                </a:solidFill>
                <a:latin typeface="Open Sans"/>
                <a:ea typeface="Open Sans"/>
                <a:cs typeface="Open Sans"/>
                <a:sym typeface="Open Sans"/>
              </a:rPr>
              <a:t>1. Bagaimana cara mengelompokkan wilayah di Indonesia berdasarkan data kemiskinan</a:t>
            </a:r>
          </a:p>
          <a:p>
            <a:pPr algn="ctr">
              <a:lnSpc>
                <a:spcPts val="3220"/>
              </a:lnSpc>
            </a:pPr>
            <a:r>
              <a:rPr lang="en-US" sz="2300">
                <a:solidFill>
                  <a:srgbClr val="000000"/>
                </a:solidFill>
                <a:latin typeface="Open Sans"/>
                <a:ea typeface="Open Sans"/>
                <a:cs typeface="Open Sans"/>
                <a:sym typeface="Open Sans"/>
              </a:rPr>
              <a:t>menggunakan K-Means?</a:t>
            </a:r>
          </a:p>
          <a:p>
            <a:pPr algn="ctr">
              <a:lnSpc>
                <a:spcPts val="3220"/>
              </a:lnSpc>
            </a:pPr>
          </a:p>
        </p:txBody>
      </p:sp>
      <p:sp>
        <p:nvSpPr>
          <p:cNvPr name="TextBox 8" id="8"/>
          <p:cNvSpPr txBox="true"/>
          <p:nvPr/>
        </p:nvSpPr>
        <p:spPr>
          <a:xfrm rot="0">
            <a:off x="0" y="5394123"/>
            <a:ext cx="8846641" cy="396240"/>
          </a:xfrm>
          <a:prstGeom prst="rect">
            <a:avLst/>
          </a:prstGeom>
        </p:spPr>
        <p:txBody>
          <a:bodyPr anchor="t" rtlCol="false" tIns="0" lIns="0" bIns="0" rIns="0">
            <a:spAutoFit/>
          </a:bodyPr>
          <a:lstStyle/>
          <a:p>
            <a:pPr algn="l" marL="518160" indent="-259080" lvl="1">
              <a:lnSpc>
                <a:spcPts val="3359"/>
              </a:lnSpc>
              <a:buAutoNum type="arabicPeriod" startAt="1"/>
            </a:pPr>
            <a:r>
              <a:rPr lang="en-US" sz="2400">
                <a:solidFill>
                  <a:srgbClr val="000000"/>
                </a:solidFill>
                <a:latin typeface="Open Sans"/>
                <a:ea typeface="Open Sans"/>
                <a:cs typeface="Open Sans"/>
                <a:sym typeface="Open Sans"/>
              </a:rPr>
              <a:t>berapa jumlah clusster terbaik yang cocok di gunakan sih? </a:t>
            </a:r>
          </a:p>
        </p:txBody>
      </p:sp>
      <p:sp>
        <p:nvSpPr>
          <p:cNvPr name="TextBox 9" id="9"/>
          <p:cNvSpPr txBox="true"/>
          <p:nvPr/>
        </p:nvSpPr>
        <p:spPr>
          <a:xfrm rot="0">
            <a:off x="399083" y="7744623"/>
            <a:ext cx="8048476" cy="422275"/>
          </a:xfrm>
          <a:prstGeom prst="rect">
            <a:avLst/>
          </a:prstGeom>
        </p:spPr>
        <p:txBody>
          <a:bodyPr anchor="t" rtlCol="false" tIns="0" lIns="0" bIns="0" rIns="0">
            <a:spAutoFit/>
          </a:bodyPr>
          <a:lstStyle/>
          <a:p>
            <a:pPr algn="ctr">
              <a:lnSpc>
                <a:spcPts val="3499"/>
              </a:lnSpc>
            </a:pPr>
            <a:r>
              <a:rPr lang="en-US" sz="2499">
                <a:solidFill>
                  <a:srgbClr val="000000"/>
                </a:solidFill>
                <a:latin typeface="Open Sans"/>
                <a:ea typeface="Open Sans"/>
                <a:cs typeface="Open Sans"/>
                <a:sym typeface="Open Sans"/>
              </a:rPr>
              <a:t>3 bagaimana hasil clusstering jika di visualisasikan sih?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55305" y="6075962"/>
            <a:ext cx="7315200" cy="3564497"/>
          </a:xfrm>
          <a:custGeom>
            <a:avLst/>
            <a:gdLst/>
            <a:ahLst/>
            <a:cxnLst/>
            <a:rect r="r" b="b" t="t" l="l"/>
            <a:pathLst>
              <a:path h="3564497" w="7315200">
                <a:moveTo>
                  <a:pt x="0" y="0"/>
                </a:moveTo>
                <a:lnTo>
                  <a:pt x="7315200" y="0"/>
                </a:lnTo>
                <a:lnTo>
                  <a:pt x="7315200" y="3564497"/>
                </a:lnTo>
                <a:lnTo>
                  <a:pt x="0" y="35644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34166" y="3506416"/>
            <a:ext cx="6730928" cy="5751884"/>
          </a:xfrm>
          <a:custGeom>
            <a:avLst/>
            <a:gdLst/>
            <a:ahLst/>
            <a:cxnLst/>
            <a:rect r="r" b="b" t="t" l="l"/>
            <a:pathLst>
              <a:path h="5751884" w="6730928">
                <a:moveTo>
                  <a:pt x="0" y="0"/>
                </a:moveTo>
                <a:lnTo>
                  <a:pt x="6730928" y="0"/>
                </a:lnTo>
                <a:lnTo>
                  <a:pt x="6730928" y="5751884"/>
                </a:lnTo>
                <a:lnTo>
                  <a:pt x="0" y="57518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684913" y="1440542"/>
            <a:ext cx="7315200" cy="3564497"/>
          </a:xfrm>
          <a:custGeom>
            <a:avLst/>
            <a:gdLst/>
            <a:ahLst/>
            <a:cxnLst/>
            <a:rect r="r" b="b" t="t" l="l"/>
            <a:pathLst>
              <a:path h="3564497" w="7315200">
                <a:moveTo>
                  <a:pt x="0" y="0"/>
                </a:moveTo>
                <a:lnTo>
                  <a:pt x="7315200" y="0"/>
                </a:lnTo>
                <a:lnTo>
                  <a:pt x="7315200" y="3564498"/>
                </a:lnTo>
                <a:lnTo>
                  <a:pt x="0" y="35644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047831" y="3336806"/>
            <a:ext cx="5931457" cy="2890237"/>
          </a:xfrm>
          <a:custGeom>
            <a:avLst/>
            <a:gdLst/>
            <a:ahLst/>
            <a:cxnLst/>
            <a:rect r="r" b="b" t="t" l="l"/>
            <a:pathLst>
              <a:path h="2890237" w="5931457">
                <a:moveTo>
                  <a:pt x="0" y="0"/>
                </a:moveTo>
                <a:lnTo>
                  <a:pt x="5931457" y="0"/>
                </a:lnTo>
                <a:lnTo>
                  <a:pt x="5931457" y="2890237"/>
                </a:lnTo>
                <a:lnTo>
                  <a:pt x="0" y="28902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2993820" y="-196870"/>
            <a:ext cx="1579917" cy="1917375"/>
          </a:xfrm>
          <a:custGeom>
            <a:avLst/>
            <a:gdLst/>
            <a:ahLst/>
            <a:cxnLst/>
            <a:rect r="r" b="b" t="t" l="l"/>
            <a:pathLst>
              <a:path h="1917375" w="1579917">
                <a:moveTo>
                  <a:pt x="0" y="0"/>
                </a:moveTo>
                <a:lnTo>
                  <a:pt x="1579916" y="0"/>
                </a:lnTo>
                <a:lnTo>
                  <a:pt x="1579916" y="1917374"/>
                </a:lnTo>
                <a:lnTo>
                  <a:pt x="0" y="19173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6670894" y="285750"/>
            <a:ext cx="7639639" cy="105461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tujuan project</a:t>
            </a:r>
          </a:p>
        </p:txBody>
      </p:sp>
      <p:sp>
        <p:nvSpPr>
          <p:cNvPr name="TextBox 9" id="9"/>
          <p:cNvSpPr txBox="true"/>
          <p:nvPr/>
        </p:nvSpPr>
        <p:spPr>
          <a:xfrm rot="0">
            <a:off x="1566219" y="1108262"/>
            <a:ext cx="2033411"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Borcelle</a:t>
            </a:r>
          </a:p>
        </p:txBody>
      </p:sp>
      <p:sp>
        <p:nvSpPr>
          <p:cNvPr name="TextBox 10" id="10"/>
          <p:cNvSpPr txBox="true"/>
          <p:nvPr/>
        </p:nvSpPr>
        <p:spPr>
          <a:xfrm rot="0">
            <a:off x="5739926" y="2225235"/>
            <a:ext cx="5789312" cy="2545044"/>
          </a:xfrm>
          <a:prstGeom prst="rect">
            <a:avLst/>
          </a:prstGeom>
        </p:spPr>
        <p:txBody>
          <a:bodyPr anchor="t" rtlCol="false" tIns="0" lIns="0" bIns="0" rIns="0">
            <a:spAutoFit/>
          </a:bodyPr>
          <a:lstStyle/>
          <a:p>
            <a:pPr algn="ctr">
              <a:lnSpc>
                <a:spcPts val="4096"/>
              </a:lnSpc>
            </a:pPr>
            <a:r>
              <a:rPr lang="en-US" b="true" sz="2926" spc="-143">
                <a:solidFill>
                  <a:srgbClr val="000000"/>
                </a:solidFill>
                <a:latin typeface="TT Interphases Bold"/>
                <a:ea typeface="TT Interphases Bold"/>
                <a:cs typeface="TT Interphases Bold"/>
                <a:sym typeface="TT Interphases Bold"/>
              </a:rPr>
              <a:t>Mengelompokkan wilayah di Indonesia menjadi beberapa kategori (misal: sangat miskin dan</a:t>
            </a:r>
          </a:p>
          <a:p>
            <a:pPr algn="ctr">
              <a:lnSpc>
                <a:spcPts val="4096"/>
              </a:lnSpc>
            </a:pPr>
            <a:r>
              <a:rPr lang="en-US" b="true" sz="2926" spc="-143">
                <a:solidFill>
                  <a:srgbClr val="000000"/>
                </a:solidFill>
                <a:latin typeface="TT Interphases Bold"/>
                <a:ea typeface="TT Interphases Bold"/>
                <a:cs typeface="TT Interphases Bold"/>
                <a:sym typeface="TT Interphases Bold"/>
              </a:rPr>
              <a:t>miskin).</a:t>
            </a:r>
          </a:p>
          <a:p>
            <a:pPr algn="ctr">
              <a:lnSpc>
                <a:spcPts val="4096"/>
              </a:lnSpc>
            </a:pPr>
          </a:p>
        </p:txBody>
      </p:sp>
      <p:sp>
        <p:nvSpPr>
          <p:cNvPr name="TextBox 11" id="11"/>
          <p:cNvSpPr txBox="true"/>
          <p:nvPr/>
        </p:nvSpPr>
        <p:spPr>
          <a:xfrm rot="0">
            <a:off x="6691329" y="6726710"/>
            <a:ext cx="5308783" cy="2196326"/>
          </a:xfrm>
          <a:prstGeom prst="rect">
            <a:avLst/>
          </a:prstGeom>
        </p:spPr>
        <p:txBody>
          <a:bodyPr anchor="t" rtlCol="false" tIns="0" lIns="0" bIns="0" rIns="0">
            <a:spAutoFit/>
          </a:bodyPr>
          <a:lstStyle/>
          <a:p>
            <a:pPr algn="l">
              <a:lnSpc>
                <a:spcPts val="4454"/>
              </a:lnSpc>
            </a:pPr>
            <a:r>
              <a:rPr lang="en-US" sz="3181" spc="-155" b="true">
                <a:solidFill>
                  <a:srgbClr val="000000"/>
                </a:solidFill>
                <a:latin typeface="TT Interphases Bold"/>
                <a:ea typeface="TT Interphases Bold"/>
                <a:cs typeface="TT Interphases Bold"/>
                <a:sym typeface="TT Interphases Bold"/>
              </a:rPr>
              <a:t>Memvisualisasikan hasil clustering dalam bentuk grafik dan peta geopandas</a:t>
            </a:r>
          </a:p>
          <a:p>
            <a:pPr algn="l">
              <a:lnSpc>
                <a:spcPts val="4454"/>
              </a:lnSpc>
            </a:pPr>
          </a:p>
        </p:txBody>
      </p:sp>
      <p:sp>
        <p:nvSpPr>
          <p:cNvPr name="TextBox 12" id="12"/>
          <p:cNvSpPr txBox="true"/>
          <p:nvPr/>
        </p:nvSpPr>
        <p:spPr>
          <a:xfrm rot="0">
            <a:off x="12359168" y="3842200"/>
            <a:ext cx="5308783" cy="2233762"/>
          </a:xfrm>
          <a:prstGeom prst="rect">
            <a:avLst/>
          </a:prstGeom>
        </p:spPr>
        <p:txBody>
          <a:bodyPr anchor="t" rtlCol="false" tIns="0" lIns="0" bIns="0" rIns="0">
            <a:spAutoFit/>
          </a:bodyPr>
          <a:lstStyle/>
          <a:p>
            <a:pPr algn="ctr">
              <a:lnSpc>
                <a:spcPts val="4454"/>
              </a:lnSpc>
            </a:pPr>
            <a:r>
              <a:rPr lang="en-US" b="true" sz="3181" spc="-155">
                <a:solidFill>
                  <a:srgbClr val="000000"/>
                </a:solidFill>
                <a:latin typeface="TT Interphases Bold"/>
                <a:ea typeface="TT Interphases Bold"/>
                <a:cs typeface="TT Interphases Bold"/>
                <a:sym typeface="TT Interphases Bold"/>
              </a:rPr>
              <a:t>Mengetahui pola persebaran wilayah berdasarkan hasil clustering.</a:t>
            </a:r>
          </a:p>
          <a:p>
            <a:pPr algn="ctr">
              <a:lnSpc>
                <a:spcPts val="4454"/>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5642370"/>
            <a:ext cx="7195906" cy="4644630"/>
          </a:xfrm>
          <a:custGeom>
            <a:avLst/>
            <a:gdLst/>
            <a:ahLst/>
            <a:cxnLst/>
            <a:rect r="r" b="b" t="t" l="l"/>
            <a:pathLst>
              <a:path h="4644630" w="7195906">
                <a:moveTo>
                  <a:pt x="0" y="0"/>
                </a:moveTo>
                <a:lnTo>
                  <a:pt x="7195906" y="0"/>
                </a:lnTo>
                <a:lnTo>
                  <a:pt x="7195906" y="4644630"/>
                </a:lnTo>
                <a:lnTo>
                  <a:pt x="0" y="46446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209418" y="1802284"/>
            <a:ext cx="7577855" cy="299771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dataset yang kami gunakan ada 2, yaitu</a:t>
            </a:r>
          </a:p>
        </p:txBody>
      </p:sp>
      <p:sp>
        <p:nvSpPr>
          <p:cNvPr name="TextBox 5" id="5"/>
          <p:cNvSpPr txBox="true"/>
          <p:nvPr/>
        </p:nvSpPr>
        <p:spPr>
          <a:xfrm rot="0">
            <a:off x="1566219" y="1108262"/>
            <a:ext cx="2033411"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Borcelle</a:t>
            </a:r>
          </a:p>
        </p:txBody>
      </p:sp>
      <p:sp>
        <p:nvSpPr>
          <p:cNvPr name="TextBox 6" id="6"/>
          <p:cNvSpPr txBox="true"/>
          <p:nvPr/>
        </p:nvSpPr>
        <p:spPr>
          <a:xfrm rot="0">
            <a:off x="8581905" y="1577265"/>
            <a:ext cx="3091416" cy="440280"/>
          </a:xfrm>
          <a:prstGeom prst="rect">
            <a:avLst/>
          </a:prstGeom>
        </p:spPr>
        <p:txBody>
          <a:bodyPr anchor="t" rtlCol="false" tIns="0" lIns="0" bIns="0" rIns="0">
            <a:spAutoFit/>
          </a:bodyPr>
          <a:lstStyle/>
          <a:p>
            <a:pPr algn="l">
              <a:lnSpc>
                <a:spcPts val="3617"/>
              </a:lnSpc>
            </a:pPr>
            <a:r>
              <a:rPr lang="en-US" sz="2583" spc="-126" b="true">
                <a:solidFill>
                  <a:srgbClr val="000000"/>
                </a:solidFill>
                <a:latin typeface="TT Interphases Bold"/>
                <a:ea typeface="TT Interphases Bold"/>
                <a:cs typeface="TT Interphases Bold"/>
                <a:sym typeface="TT Interphases Bold"/>
              </a:rPr>
              <a:t>Dataset pertama</a:t>
            </a:r>
          </a:p>
        </p:txBody>
      </p:sp>
      <p:sp>
        <p:nvSpPr>
          <p:cNvPr name="TextBox 7" id="7"/>
          <p:cNvSpPr txBox="true"/>
          <p:nvPr/>
        </p:nvSpPr>
        <p:spPr>
          <a:xfrm rot="0">
            <a:off x="8558553" y="5598468"/>
            <a:ext cx="2709684" cy="420686"/>
          </a:xfrm>
          <a:prstGeom prst="rect">
            <a:avLst/>
          </a:prstGeom>
        </p:spPr>
        <p:txBody>
          <a:bodyPr anchor="t" rtlCol="false" tIns="0" lIns="0" bIns="0" rIns="0">
            <a:spAutoFit/>
          </a:bodyPr>
          <a:lstStyle/>
          <a:p>
            <a:pPr algn="l">
              <a:lnSpc>
                <a:spcPts val="3522"/>
              </a:lnSpc>
            </a:pPr>
            <a:r>
              <a:rPr lang="en-US" sz="2515" spc="-123" b="true">
                <a:solidFill>
                  <a:srgbClr val="000000"/>
                </a:solidFill>
                <a:latin typeface="TT Interphases Bold"/>
                <a:ea typeface="TT Interphases Bold"/>
                <a:cs typeface="TT Interphases Bold"/>
                <a:sym typeface="TT Interphases Bold"/>
              </a:rPr>
              <a:t>dataset kedua</a:t>
            </a:r>
          </a:p>
        </p:txBody>
      </p:sp>
      <p:sp>
        <p:nvSpPr>
          <p:cNvPr name="TextBox 8" id="8"/>
          <p:cNvSpPr txBox="true"/>
          <p:nvPr/>
        </p:nvSpPr>
        <p:spPr>
          <a:xfrm rot="0">
            <a:off x="8557459" y="2036449"/>
            <a:ext cx="7963484" cy="3528220"/>
          </a:xfrm>
          <a:prstGeom prst="rect">
            <a:avLst/>
          </a:prstGeom>
        </p:spPr>
        <p:txBody>
          <a:bodyPr anchor="t" rtlCol="false" tIns="0" lIns="0" bIns="0" rIns="0">
            <a:spAutoFit/>
          </a:bodyPr>
          <a:lstStyle/>
          <a:p>
            <a:pPr algn="just">
              <a:lnSpc>
                <a:spcPts val="2802"/>
              </a:lnSpc>
            </a:pPr>
            <a:r>
              <a:rPr lang="en-US" sz="2002">
                <a:solidFill>
                  <a:srgbClr val="000000"/>
                </a:solidFill>
                <a:latin typeface="TT Interphases"/>
                <a:ea typeface="TT Interphases"/>
                <a:cs typeface="TT Interphases"/>
                <a:sym typeface="TT Interphases"/>
              </a:rPr>
              <a:t>Dataset pert</a:t>
            </a:r>
            <a:r>
              <a:rPr lang="en-US" sz="2002">
                <a:solidFill>
                  <a:srgbClr val="000000"/>
                </a:solidFill>
                <a:latin typeface="TT Interphases"/>
                <a:ea typeface="TT Interphases"/>
                <a:cs typeface="TT Interphases"/>
                <a:sym typeface="TT Interphases"/>
              </a:rPr>
              <a:t>ama yang digunakan adalah data tingkat kemiskinan wilayah Indonesia berdasarkan kota/kabupaten yang berisi indikator utama seperti persentase penduduk miskin di setiap wilayah. Dataset ini menjadi data utama dalam proses clustering menggunakan K-Means Clustering, karena dari data inilah sistem akan mengelompokkan wilayah ke dalam beberapa kategori berdasarkan tingkat kemiskinannya. Data ini dapat diakses melalui link berikut: https://www.kaggle.com/datasets/ranataliaselvira/data-tingkat-kemiskinan</a:t>
            </a:r>
          </a:p>
          <a:p>
            <a:pPr algn="just">
              <a:lnSpc>
                <a:spcPts val="2802"/>
              </a:lnSpc>
            </a:pPr>
          </a:p>
        </p:txBody>
      </p:sp>
      <p:sp>
        <p:nvSpPr>
          <p:cNvPr name="TextBox 9" id="9"/>
          <p:cNvSpPr txBox="true"/>
          <p:nvPr/>
        </p:nvSpPr>
        <p:spPr>
          <a:xfrm rot="0">
            <a:off x="8557459" y="5971529"/>
            <a:ext cx="8962325" cy="3077756"/>
          </a:xfrm>
          <a:prstGeom prst="rect">
            <a:avLst/>
          </a:prstGeom>
        </p:spPr>
        <p:txBody>
          <a:bodyPr anchor="t" rtlCol="false" tIns="0" lIns="0" bIns="0" rIns="0">
            <a:spAutoFit/>
          </a:bodyPr>
          <a:lstStyle/>
          <a:p>
            <a:pPr algn="just">
              <a:lnSpc>
                <a:spcPts val="2730"/>
              </a:lnSpc>
            </a:pPr>
            <a:r>
              <a:rPr lang="en-US" sz="1950">
                <a:solidFill>
                  <a:srgbClr val="000000"/>
                </a:solidFill>
                <a:latin typeface="Open Sans"/>
                <a:ea typeface="Open Sans"/>
                <a:cs typeface="Open Sans"/>
                <a:sym typeface="Open Sans"/>
              </a:rPr>
              <a:t>Dataset kedua adalah data GeoJSON yang digunakan untuk keperluan visualisasi pet</a:t>
            </a:r>
            <a:r>
              <a:rPr lang="en-US" sz="1950">
                <a:solidFill>
                  <a:srgbClr val="000000"/>
                </a:solidFill>
                <a:latin typeface="Open Sans"/>
                <a:ea typeface="Open Sans"/>
                <a:cs typeface="Open Sans"/>
                <a:sym typeface="Open Sans"/>
              </a:rPr>
              <a:t>a (mapping) hasil clustering. Dataset ini berisi informasi geografis seperti batas wilayah kota/kabupaten di Indonesia yang nantinya akan digabungkan dengan hasil clustering dari dataset pertama, sehingga setiap wilayah dapat ditampilkan dalam bentuk peta berwarna sesuai dengan cluster yang dihasilkan. Data ini dapat diakses melalui link https://github.com/eppofahmi/geojson-indonesia berfungsi sebagai media visualisasi agar hasil analisis lebih mudah dipahami secara spasial.</a:t>
            </a:r>
          </a:p>
          <a:p>
            <a:pPr algn="just">
              <a:lnSpc>
                <a:spcPts val="273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22522" y="2750183"/>
            <a:ext cx="5245044" cy="6968054"/>
          </a:xfrm>
          <a:custGeom>
            <a:avLst/>
            <a:gdLst/>
            <a:ahLst/>
            <a:cxnLst/>
            <a:rect r="r" b="b" t="t" l="l"/>
            <a:pathLst>
              <a:path h="6968054" w="5245044">
                <a:moveTo>
                  <a:pt x="0" y="0"/>
                </a:moveTo>
                <a:lnTo>
                  <a:pt x="5245044" y="0"/>
                </a:lnTo>
                <a:lnTo>
                  <a:pt x="5245044" y="6968054"/>
                </a:lnTo>
                <a:lnTo>
                  <a:pt x="0" y="69680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28015" y="724023"/>
            <a:ext cx="6234058" cy="202616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Metode yang kita gunakan </a:t>
            </a:r>
          </a:p>
        </p:txBody>
      </p:sp>
      <p:sp>
        <p:nvSpPr>
          <p:cNvPr name="TextBox 4" id="4"/>
          <p:cNvSpPr txBox="true"/>
          <p:nvPr/>
        </p:nvSpPr>
        <p:spPr>
          <a:xfrm rot="0">
            <a:off x="7867566" y="2654933"/>
            <a:ext cx="15878214" cy="5977900"/>
          </a:xfrm>
          <a:prstGeom prst="rect">
            <a:avLst/>
          </a:prstGeom>
        </p:spPr>
        <p:txBody>
          <a:bodyPr anchor="t" rtlCol="false" tIns="0" lIns="0" bIns="0" rIns="0">
            <a:spAutoFit/>
          </a:bodyPr>
          <a:lstStyle/>
          <a:p>
            <a:pPr algn="l">
              <a:lnSpc>
                <a:spcPts val="6918"/>
              </a:lnSpc>
            </a:pPr>
            <a:r>
              <a:rPr lang="en-US" sz="4941" spc="-242">
                <a:solidFill>
                  <a:srgbClr val="000000"/>
                </a:solidFill>
                <a:latin typeface="TT Interphases"/>
                <a:ea typeface="TT Interphases"/>
                <a:cs typeface="TT Interphases"/>
                <a:sym typeface="TT Interphases"/>
              </a:rPr>
              <a:t>               Algoritma: K-Means Clustering</a:t>
            </a:r>
          </a:p>
          <a:p>
            <a:pPr algn="l">
              <a:lnSpc>
                <a:spcPts val="6918"/>
              </a:lnSpc>
            </a:pPr>
            <a:r>
              <a:rPr lang="en-US" sz="4941" spc="-242">
                <a:solidFill>
                  <a:srgbClr val="000000"/>
                </a:solidFill>
                <a:latin typeface="TT Interphases"/>
                <a:ea typeface="TT Interphases"/>
                <a:cs typeface="TT Interphases"/>
                <a:sym typeface="TT Interphases"/>
              </a:rPr>
              <a:t>               </a:t>
            </a:r>
            <a:r>
              <a:rPr lang="en-US" sz="4941" spc="-242">
                <a:solidFill>
                  <a:srgbClr val="000000"/>
                </a:solidFill>
                <a:latin typeface="TT Interphases"/>
                <a:ea typeface="TT Interphases"/>
                <a:cs typeface="TT Interphases"/>
                <a:sym typeface="TT Interphases"/>
              </a:rPr>
              <a:t>Konsep singkat:</a:t>
            </a:r>
          </a:p>
          <a:p>
            <a:pPr algn="l" marL="2133789" indent="-711263" lvl="2">
              <a:lnSpc>
                <a:spcPts val="6918"/>
              </a:lnSpc>
              <a:buFont typeface="Arial"/>
              <a:buChar char="⚬"/>
            </a:pPr>
            <a:r>
              <a:rPr lang="en-US" sz="4941" spc="-242">
                <a:solidFill>
                  <a:srgbClr val="000000"/>
                </a:solidFill>
                <a:latin typeface="TT Interphases"/>
                <a:ea typeface="TT Interphases"/>
                <a:cs typeface="TT Interphases"/>
                <a:sym typeface="TT Interphases"/>
              </a:rPr>
              <a:t>Tentukan K (jumlah cluster)</a:t>
            </a:r>
          </a:p>
          <a:p>
            <a:pPr algn="l" marL="2133789" indent="-711263" lvl="2">
              <a:lnSpc>
                <a:spcPts val="6918"/>
              </a:lnSpc>
              <a:buFont typeface="Arial"/>
              <a:buChar char="⚬"/>
            </a:pPr>
            <a:r>
              <a:rPr lang="en-US" sz="4941" spc="-242">
                <a:solidFill>
                  <a:srgbClr val="000000"/>
                </a:solidFill>
                <a:latin typeface="TT Interphases"/>
                <a:ea typeface="TT Interphases"/>
                <a:cs typeface="TT Interphases"/>
                <a:sym typeface="TT Interphases"/>
              </a:rPr>
              <a:t>Tentukan centroid awal</a:t>
            </a:r>
          </a:p>
          <a:p>
            <a:pPr algn="l" marL="2133789" indent="-711263" lvl="2">
              <a:lnSpc>
                <a:spcPts val="6918"/>
              </a:lnSpc>
              <a:buFont typeface="Arial"/>
              <a:buChar char="⚬"/>
            </a:pPr>
            <a:r>
              <a:rPr lang="en-US" sz="4941" spc="-242">
                <a:solidFill>
                  <a:srgbClr val="000000"/>
                </a:solidFill>
                <a:latin typeface="TT Interphases"/>
                <a:ea typeface="TT Interphases"/>
                <a:cs typeface="TT Interphases"/>
                <a:sym typeface="TT Interphases"/>
              </a:rPr>
              <a:t>Hitung jarak (Euclidean)</a:t>
            </a:r>
          </a:p>
          <a:p>
            <a:pPr algn="l" marL="2133789" indent="-711263" lvl="2">
              <a:lnSpc>
                <a:spcPts val="6918"/>
              </a:lnSpc>
              <a:buFont typeface="Arial"/>
              <a:buChar char="⚬"/>
            </a:pPr>
            <a:r>
              <a:rPr lang="en-US" sz="4941" spc="-242">
                <a:solidFill>
                  <a:srgbClr val="000000"/>
                </a:solidFill>
                <a:latin typeface="TT Interphases"/>
                <a:ea typeface="TT Interphases"/>
                <a:cs typeface="TT Interphases"/>
                <a:sym typeface="TT Interphases"/>
              </a:rPr>
              <a:t>Update cluster sampai stabil</a:t>
            </a:r>
          </a:p>
          <a:p>
            <a:pPr algn="l">
              <a:lnSpc>
                <a:spcPts val="6918"/>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89722" y="3501497"/>
            <a:ext cx="291723" cy="202084"/>
          </a:xfrm>
          <a:custGeom>
            <a:avLst/>
            <a:gdLst/>
            <a:ahLst/>
            <a:cxnLst/>
            <a:rect r="r" b="b" t="t" l="l"/>
            <a:pathLst>
              <a:path h="202084" w="291723">
                <a:moveTo>
                  <a:pt x="0" y="0"/>
                </a:moveTo>
                <a:lnTo>
                  <a:pt x="291723" y="0"/>
                </a:lnTo>
                <a:lnTo>
                  <a:pt x="291723" y="202084"/>
                </a:lnTo>
                <a:lnTo>
                  <a:pt x="0" y="2020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06107" y="3510397"/>
            <a:ext cx="291723" cy="202084"/>
          </a:xfrm>
          <a:custGeom>
            <a:avLst/>
            <a:gdLst/>
            <a:ahLst/>
            <a:cxnLst/>
            <a:rect r="r" b="b" t="t" l="l"/>
            <a:pathLst>
              <a:path h="202084" w="291723">
                <a:moveTo>
                  <a:pt x="0" y="0"/>
                </a:moveTo>
                <a:lnTo>
                  <a:pt x="291723" y="0"/>
                </a:lnTo>
                <a:lnTo>
                  <a:pt x="291723" y="202085"/>
                </a:lnTo>
                <a:lnTo>
                  <a:pt x="0" y="2020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308381">
            <a:off x="2680722" y="7602156"/>
            <a:ext cx="291723" cy="202084"/>
          </a:xfrm>
          <a:custGeom>
            <a:avLst/>
            <a:gdLst/>
            <a:ahLst/>
            <a:cxnLst/>
            <a:rect r="r" b="b" t="t" l="l"/>
            <a:pathLst>
              <a:path h="202084" w="291723">
                <a:moveTo>
                  <a:pt x="0" y="0"/>
                </a:moveTo>
                <a:lnTo>
                  <a:pt x="291723" y="0"/>
                </a:lnTo>
                <a:lnTo>
                  <a:pt x="291723" y="202084"/>
                </a:lnTo>
                <a:lnTo>
                  <a:pt x="0" y="2020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13626980" y="4958058"/>
            <a:ext cx="291723" cy="202084"/>
          </a:xfrm>
          <a:custGeom>
            <a:avLst/>
            <a:gdLst/>
            <a:ahLst/>
            <a:cxnLst/>
            <a:rect r="r" b="b" t="t" l="l"/>
            <a:pathLst>
              <a:path h="202084" w="291723">
                <a:moveTo>
                  <a:pt x="0" y="0"/>
                </a:moveTo>
                <a:lnTo>
                  <a:pt x="291723" y="0"/>
                </a:lnTo>
                <a:lnTo>
                  <a:pt x="291723" y="202084"/>
                </a:lnTo>
                <a:lnTo>
                  <a:pt x="0" y="2020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1458507" y="6788414"/>
            <a:ext cx="291723" cy="202084"/>
          </a:xfrm>
          <a:custGeom>
            <a:avLst/>
            <a:gdLst/>
            <a:ahLst/>
            <a:cxnLst/>
            <a:rect r="r" b="b" t="t" l="l"/>
            <a:pathLst>
              <a:path h="202084" w="291723">
                <a:moveTo>
                  <a:pt x="0" y="0"/>
                </a:moveTo>
                <a:lnTo>
                  <a:pt x="291723" y="0"/>
                </a:lnTo>
                <a:lnTo>
                  <a:pt x="291723" y="202084"/>
                </a:lnTo>
                <a:lnTo>
                  <a:pt x="0" y="2020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5589722" y="6838098"/>
            <a:ext cx="291723" cy="202084"/>
          </a:xfrm>
          <a:custGeom>
            <a:avLst/>
            <a:gdLst/>
            <a:ahLst/>
            <a:cxnLst/>
            <a:rect r="r" b="b" t="t" l="l"/>
            <a:pathLst>
              <a:path h="202084" w="291723">
                <a:moveTo>
                  <a:pt x="0" y="0"/>
                </a:moveTo>
                <a:lnTo>
                  <a:pt x="291723" y="0"/>
                </a:lnTo>
                <a:lnTo>
                  <a:pt x="291723" y="202085"/>
                </a:lnTo>
                <a:lnTo>
                  <a:pt x="0" y="2020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443860" y="8841594"/>
            <a:ext cx="291723" cy="202084"/>
          </a:xfrm>
          <a:custGeom>
            <a:avLst/>
            <a:gdLst/>
            <a:ahLst/>
            <a:cxnLst/>
            <a:rect r="r" b="b" t="t" l="l"/>
            <a:pathLst>
              <a:path h="202084" w="291723">
                <a:moveTo>
                  <a:pt x="0" y="0"/>
                </a:moveTo>
                <a:lnTo>
                  <a:pt x="291723" y="0"/>
                </a:lnTo>
                <a:lnTo>
                  <a:pt x="291723" y="202085"/>
                </a:lnTo>
                <a:lnTo>
                  <a:pt x="0" y="2020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6016201" y="31818"/>
            <a:ext cx="2174077" cy="2218446"/>
          </a:xfrm>
          <a:custGeom>
            <a:avLst/>
            <a:gdLst/>
            <a:ahLst/>
            <a:cxnLst/>
            <a:rect r="r" b="b" t="t" l="l"/>
            <a:pathLst>
              <a:path h="2218446" w="2174077">
                <a:moveTo>
                  <a:pt x="0" y="0"/>
                </a:moveTo>
                <a:lnTo>
                  <a:pt x="2174077" y="0"/>
                </a:lnTo>
                <a:lnTo>
                  <a:pt x="2174077" y="2218446"/>
                </a:lnTo>
                <a:lnTo>
                  <a:pt x="0" y="22184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817912" y="867341"/>
            <a:ext cx="7193539" cy="105461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Alur sistem</a:t>
            </a:r>
          </a:p>
        </p:txBody>
      </p:sp>
      <p:sp>
        <p:nvSpPr>
          <p:cNvPr name="TextBox 11" id="11"/>
          <p:cNvSpPr txBox="true"/>
          <p:nvPr/>
        </p:nvSpPr>
        <p:spPr>
          <a:xfrm rot="0">
            <a:off x="1028700" y="2562092"/>
            <a:ext cx="4273073" cy="2642870"/>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Tahap awal sistem dimulai dengan memasukkan dataset wilayah Indonesia yang berisi berbagai indikator sosial ekonomi seperti persentase penduduk miskin, tingkat pengangguran, tingkat pendidikan, dan variabel lain yang relevan, di mana data ini menjadi dasar utama dalam proses clustering untuk mengelompokkan wilayah berdasarkan karakteristik kemiskinan.</a:t>
            </a:r>
          </a:p>
          <a:p>
            <a:pPr algn="l">
              <a:lnSpc>
                <a:spcPts val="2380"/>
              </a:lnSpc>
            </a:pPr>
          </a:p>
        </p:txBody>
      </p:sp>
      <p:sp>
        <p:nvSpPr>
          <p:cNvPr name="TextBox 12" id="12"/>
          <p:cNvSpPr txBox="true"/>
          <p:nvPr/>
        </p:nvSpPr>
        <p:spPr>
          <a:xfrm rot="0">
            <a:off x="817912" y="2221689"/>
            <a:ext cx="2068817" cy="302260"/>
          </a:xfrm>
          <a:prstGeom prst="rect">
            <a:avLst/>
          </a:prstGeom>
        </p:spPr>
        <p:txBody>
          <a:bodyPr anchor="t" rtlCol="false" tIns="0" lIns="0" bIns="0" rIns="0">
            <a:spAutoFit/>
          </a:bodyPr>
          <a:lstStyle/>
          <a:p>
            <a:pPr algn="l" marL="398466" indent="-199233" lvl="1">
              <a:lnSpc>
                <a:spcPts val="2583"/>
              </a:lnSpc>
              <a:buAutoNum type="arabicPeriod" startAt="1"/>
            </a:pPr>
            <a:r>
              <a:rPr lang="en-US" b="true" sz="1845" spc="-90">
                <a:solidFill>
                  <a:srgbClr val="000000"/>
                </a:solidFill>
                <a:latin typeface="TT Interphases Bold"/>
                <a:ea typeface="TT Interphases Bold"/>
                <a:cs typeface="TT Interphases Bold"/>
                <a:sym typeface="TT Interphases Bold"/>
              </a:rPr>
              <a:t>input data</a:t>
            </a:r>
          </a:p>
        </p:txBody>
      </p:sp>
      <p:sp>
        <p:nvSpPr>
          <p:cNvPr name="TextBox 13" id="13"/>
          <p:cNvSpPr txBox="true"/>
          <p:nvPr/>
        </p:nvSpPr>
        <p:spPr>
          <a:xfrm rot="0">
            <a:off x="6457239" y="2570992"/>
            <a:ext cx="4273073" cy="2347595"/>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Pada tahap ini dilakukan pembersihan dan persiapan data agar siap digunakan dalam proses analisis, seperti menangani missing value, menghapus data yang tidak valid, serta melakukan normalisasi agar setiap fitur memiliki skala yang sama sehingga tidak mempengaruhi hasil perhitungan jarak dalam algoritma.</a:t>
            </a:r>
          </a:p>
          <a:p>
            <a:pPr algn="l">
              <a:lnSpc>
                <a:spcPts val="2380"/>
              </a:lnSpc>
            </a:pPr>
          </a:p>
        </p:txBody>
      </p:sp>
      <p:sp>
        <p:nvSpPr>
          <p:cNvPr name="TextBox 14" id="14"/>
          <p:cNvSpPr txBox="true"/>
          <p:nvPr/>
        </p:nvSpPr>
        <p:spPr>
          <a:xfrm rot="0">
            <a:off x="6288611" y="2309997"/>
            <a:ext cx="2305165" cy="575945"/>
          </a:xfrm>
          <a:prstGeom prst="rect">
            <a:avLst/>
          </a:prstGeom>
        </p:spPr>
        <p:txBody>
          <a:bodyPr anchor="t" rtlCol="false" tIns="0" lIns="0" bIns="0" rIns="0">
            <a:spAutoFit/>
          </a:bodyPr>
          <a:lstStyle/>
          <a:p>
            <a:pPr algn="l" marL="367032" indent="-183516" lvl="1">
              <a:lnSpc>
                <a:spcPts val="2380"/>
              </a:lnSpc>
              <a:buAutoNum type="arabicPeriod" startAt="1"/>
            </a:pPr>
            <a:r>
              <a:rPr lang="en-US" b="true" sz="1700" spc="-83">
                <a:solidFill>
                  <a:srgbClr val="000000"/>
                </a:solidFill>
                <a:latin typeface="TT Interphases Bold"/>
                <a:ea typeface="TT Interphases Bold"/>
                <a:cs typeface="TT Interphases Bold"/>
                <a:sym typeface="TT Interphases Bold"/>
              </a:rPr>
              <a:t>Data Processing</a:t>
            </a:r>
          </a:p>
          <a:p>
            <a:pPr algn="l">
              <a:lnSpc>
                <a:spcPts val="2380"/>
              </a:lnSpc>
            </a:pPr>
          </a:p>
        </p:txBody>
      </p:sp>
      <p:sp>
        <p:nvSpPr>
          <p:cNvPr name="TextBox 15" id="15"/>
          <p:cNvSpPr txBox="true"/>
          <p:nvPr/>
        </p:nvSpPr>
        <p:spPr>
          <a:xfrm rot="0">
            <a:off x="12140845" y="2570992"/>
            <a:ext cx="4273073" cy="2052320"/>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Tahap ini menentukan jumlah kelompok yang ingin dibentuk, misalnya K=2 untuk mewakili kategori wilayah miskin dan sangat miskin, yang bisa ditentukan berdasarkan kebutuhan analisis atau menggunakan metode seperti elbow method untuk mendapatkan nilai K yang optimal.</a:t>
            </a:r>
          </a:p>
          <a:p>
            <a:pPr algn="l">
              <a:lnSpc>
                <a:spcPts val="2380"/>
              </a:lnSpc>
            </a:pPr>
          </a:p>
        </p:txBody>
      </p:sp>
      <p:sp>
        <p:nvSpPr>
          <p:cNvPr name="TextBox 16" id="16"/>
          <p:cNvSpPr txBox="true"/>
          <p:nvPr/>
        </p:nvSpPr>
        <p:spPr>
          <a:xfrm rot="0">
            <a:off x="11938761" y="2309997"/>
            <a:ext cx="3466077" cy="280670"/>
          </a:xfrm>
          <a:prstGeom prst="rect">
            <a:avLst/>
          </a:prstGeom>
        </p:spPr>
        <p:txBody>
          <a:bodyPr anchor="t" rtlCol="false" tIns="0" lIns="0" bIns="0" rIns="0">
            <a:spAutoFit/>
          </a:bodyPr>
          <a:lstStyle/>
          <a:p>
            <a:pPr algn="l" marL="367032" indent="-183516" lvl="1">
              <a:lnSpc>
                <a:spcPts val="2380"/>
              </a:lnSpc>
              <a:buAutoNum type="arabicPeriod" startAt="1"/>
            </a:pPr>
            <a:r>
              <a:rPr lang="en-US" b="true" sz="1700" spc="-83">
                <a:solidFill>
                  <a:srgbClr val="000000"/>
                </a:solidFill>
                <a:latin typeface="TT Interphases Bold"/>
                <a:ea typeface="TT Interphases Bold"/>
                <a:cs typeface="TT Interphases Bold"/>
                <a:sym typeface="TT Interphases Bold"/>
              </a:rPr>
              <a:t>Menentukan jumlah clusster (K) </a:t>
            </a:r>
          </a:p>
        </p:txBody>
      </p:sp>
      <p:sp>
        <p:nvSpPr>
          <p:cNvPr name="TextBox 17" id="17"/>
          <p:cNvSpPr txBox="true"/>
          <p:nvPr/>
        </p:nvSpPr>
        <p:spPr>
          <a:xfrm rot="0">
            <a:off x="11938761" y="5567146"/>
            <a:ext cx="3466077" cy="280670"/>
          </a:xfrm>
          <a:prstGeom prst="rect">
            <a:avLst/>
          </a:prstGeom>
        </p:spPr>
        <p:txBody>
          <a:bodyPr anchor="t" rtlCol="false" tIns="0" lIns="0" bIns="0" rIns="0">
            <a:spAutoFit/>
          </a:bodyPr>
          <a:lstStyle/>
          <a:p>
            <a:pPr algn="l" marL="367032" indent="-183516" lvl="1">
              <a:lnSpc>
                <a:spcPts val="2380"/>
              </a:lnSpc>
              <a:buAutoNum type="arabicPeriod" startAt="1"/>
            </a:pPr>
            <a:r>
              <a:rPr lang="en-US" b="true" sz="1700" spc="-83">
                <a:solidFill>
                  <a:srgbClr val="000000"/>
                </a:solidFill>
                <a:latin typeface="TT Interphases Bold"/>
                <a:ea typeface="TT Interphases Bold"/>
                <a:cs typeface="TT Interphases Bold"/>
                <a:sym typeface="TT Interphases Bold"/>
              </a:rPr>
              <a:t>inisialisasi centroid</a:t>
            </a:r>
          </a:p>
        </p:txBody>
      </p:sp>
      <p:sp>
        <p:nvSpPr>
          <p:cNvPr name="TextBox 18" id="18"/>
          <p:cNvSpPr txBox="true"/>
          <p:nvPr/>
        </p:nvSpPr>
        <p:spPr>
          <a:xfrm rot="0">
            <a:off x="6457239" y="5545556"/>
            <a:ext cx="3466077" cy="575945"/>
          </a:xfrm>
          <a:prstGeom prst="rect">
            <a:avLst/>
          </a:prstGeom>
        </p:spPr>
        <p:txBody>
          <a:bodyPr anchor="t" rtlCol="false" tIns="0" lIns="0" bIns="0" rIns="0">
            <a:spAutoFit/>
          </a:bodyPr>
          <a:lstStyle/>
          <a:p>
            <a:pPr algn="l">
              <a:lnSpc>
                <a:spcPts val="2380"/>
              </a:lnSpc>
            </a:pPr>
            <a:r>
              <a:rPr lang="en-US" sz="1700" spc="-83" b="true">
                <a:solidFill>
                  <a:srgbClr val="000000"/>
                </a:solidFill>
                <a:latin typeface="TT Interphases Bold"/>
                <a:ea typeface="TT Interphases Bold"/>
                <a:cs typeface="TT Interphases Bold"/>
                <a:sym typeface="TT Interphases Bold"/>
              </a:rPr>
              <a:t>5. Perhitungan Jarak</a:t>
            </a:r>
          </a:p>
          <a:p>
            <a:pPr algn="l">
              <a:lnSpc>
                <a:spcPts val="2380"/>
              </a:lnSpc>
            </a:pPr>
          </a:p>
        </p:txBody>
      </p:sp>
      <p:sp>
        <p:nvSpPr>
          <p:cNvPr name="TextBox 19" id="19"/>
          <p:cNvSpPr txBox="true"/>
          <p:nvPr/>
        </p:nvSpPr>
        <p:spPr>
          <a:xfrm rot="0">
            <a:off x="12140845" y="5797651"/>
            <a:ext cx="4273073" cy="1757045"/>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Pada tahap ini sistem memilih titik pusat cluster (centroid) secara acak dari data yang ada, di mana setiap cluster akan memiliki satu centroid awal yang menjadi acuan dalam proses pengelompokan data pada iterasi pertama.</a:t>
            </a:r>
          </a:p>
          <a:p>
            <a:pPr algn="l">
              <a:lnSpc>
                <a:spcPts val="2380"/>
              </a:lnSpc>
            </a:pPr>
          </a:p>
        </p:txBody>
      </p:sp>
      <p:sp>
        <p:nvSpPr>
          <p:cNvPr name="TextBox 20" id="20"/>
          <p:cNvSpPr txBox="true"/>
          <p:nvPr/>
        </p:nvSpPr>
        <p:spPr>
          <a:xfrm rot="0">
            <a:off x="6439316" y="5849009"/>
            <a:ext cx="4273073" cy="2052320"/>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Tahap ini menentukan jumlah kelompok yang ingin dibentuk, misalnya K=2 untuk mewakili kategori wilayah miskin dan sangat miskin, yang bisa ditentukan berdasarkan kebutuhan analisis atau menggunakan metode seperti elbow method untuk mendapatkan nilai K yang optimal.</a:t>
            </a:r>
          </a:p>
          <a:p>
            <a:pPr algn="l">
              <a:lnSpc>
                <a:spcPts val="2380"/>
              </a:lnSpc>
            </a:pPr>
          </a:p>
        </p:txBody>
      </p:sp>
      <p:sp>
        <p:nvSpPr>
          <p:cNvPr name="TextBox 21" id="21"/>
          <p:cNvSpPr txBox="true"/>
          <p:nvPr/>
        </p:nvSpPr>
        <p:spPr>
          <a:xfrm rot="0">
            <a:off x="1028700" y="5522117"/>
            <a:ext cx="3385982" cy="622823"/>
          </a:xfrm>
          <a:prstGeom prst="rect">
            <a:avLst/>
          </a:prstGeom>
        </p:spPr>
        <p:txBody>
          <a:bodyPr anchor="t" rtlCol="false" tIns="0" lIns="0" bIns="0" rIns="0">
            <a:spAutoFit/>
          </a:bodyPr>
          <a:lstStyle/>
          <a:p>
            <a:pPr algn="l">
              <a:lnSpc>
                <a:spcPts val="2583"/>
              </a:lnSpc>
            </a:pPr>
            <a:r>
              <a:rPr lang="en-US" sz="1845" spc="-90" b="true">
                <a:solidFill>
                  <a:srgbClr val="000000"/>
                </a:solidFill>
                <a:latin typeface="TT Interphases Bold"/>
                <a:ea typeface="TT Interphases Bold"/>
                <a:cs typeface="TT Interphases Bold"/>
                <a:sym typeface="TT Interphases Bold"/>
              </a:rPr>
              <a:t>6. Update Centroid</a:t>
            </a:r>
          </a:p>
          <a:p>
            <a:pPr algn="l">
              <a:lnSpc>
                <a:spcPts val="2583"/>
              </a:lnSpc>
            </a:pPr>
          </a:p>
        </p:txBody>
      </p:sp>
      <p:sp>
        <p:nvSpPr>
          <p:cNvPr name="TextBox 22" id="22"/>
          <p:cNvSpPr txBox="true"/>
          <p:nvPr/>
        </p:nvSpPr>
        <p:spPr>
          <a:xfrm rot="0">
            <a:off x="1030898" y="5797651"/>
            <a:ext cx="4273073" cy="2052320"/>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Setelah semua data masuk ke cluster masing-masing, centroid akan diperbarui dengan cara menghitung nilai rata-rata dari seluruh data dalam satu cluster, sehingga posisi centroid menjadi lebih representatif terhadap kelompok data tersebut.</a:t>
            </a:r>
          </a:p>
          <a:p>
            <a:pPr algn="l">
              <a:lnSpc>
                <a:spcPts val="2380"/>
              </a:lnSpc>
            </a:pPr>
          </a:p>
        </p:txBody>
      </p:sp>
      <p:sp>
        <p:nvSpPr>
          <p:cNvPr name="TextBox 23" id="23"/>
          <p:cNvSpPr txBox="true"/>
          <p:nvPr/>
        </p:nvSpPr>
        <p:spPr>
          <a:xfrm rot="0">
            <a:off x="6288611" y="8035708"/>
            <a:ext cx="3385982" cy="622823"/>
          </a:xfrm>
          <a:prstGeom prst="rect">
            <a:avLst/>
          </a:prstGeom>
        </p:spPr>
        <p:txBody>
          <a:bodyPr anchor="t" rtlCol="false" tIns="0" lIns="0" bIns="0" rIns="0">
            <a:spAutoFit/>
          </a:bodyPr>
          <a:lstStyle/>
          <a:p>
            <a:pPr algn="l" marL="398466" indent="-199233" lvl="1">
              <a:lnSpc>
                <a:spcPts val="2583"/>
              </a:lnSpc>
              <a:buAutoNum type="arabicPeriod" startAt="1"/>
            </a:pPr>
            <a:r>
              <a:rPr lang="en-US" b="true" sz="1845" spc="-90">
                <a:solidFill>
                  <a:srgbClr val="000000"/>
                </a:solidFill>
                <a:latin typeface="TT Interphases Bold"/>
                <a:ea typeface="TT Interphases Bold"/>
                <a:cs typeface="TT Interphases Bold"/>
                <a:sym typeface="TT Interphases Bold"/>
              </a:rPr>
              <a:t>Visualisasi Hasil</a:t>
            </a:r>
          </a:p>
          <a:p>
            <a:pPr algn="l">
              <a:lnSpc>
                <a:spcPts val="2583"/>
              </a:lnSpc>
            </a:pPr>
          </a:p>
        </p:txBody>
      </p:sp>
      <p:sp>
        <p:nvSpPr>
          <p:cNvPr name="TextBox 24" id="24"/>
          <p:cNvSpPr txBox="true"/>
          <p:nvPr/>
        </p:nvSpPr>
        <p:spPr>
          <a:xfrm rot="0">
            <a:off x="817912" y="8035708"/>
            <a:ext cx="3385982" cy="622823"/>
          </a:xfrm>
          <a:prstGeom prst="rect">
            <a:avLst/>
          </a:prstGeom>
        </p:spPr>
        <p:txBody>
          <a:bodyPr anchor="t" rtlCol="false" tIns="0" lIns="0" bIns="0" rIns="0">
            <a:spAutoFit/>
          </a:bodyPr>
          <a:lstStyle/>
          <a:p>
            <a:pPr algn="l" marL="398466" indent="-199233" lvl="1">
              <a:lnSpc>
                <a:spcPts val="2583"/>
              </a:lnSpc>
              <a:buAutoNum type="arabicPeriod" startAt="1"/>
            </a:pPr>
            <a:r>
              <a:rPr lang="en-US" b="true" sz="1845" spc="-90">
                <a:solidFill>
                  <a:srgbClr val="000000"/>
                </a:solidFill>
                <a:latin typeface="TT Interphases Bold"/>
                <a:ea typeface="TT Interphases Bold"/>
                <a:cs typeface="TT Interphases Bold"/>
                <a:sym typeface="TT Interphases Bold"/>
              </a:rPr>
              <a:t> Hasil Clustering</a:t>
            </a:r>
          </a:p>
          <a:p>
            <a:pPr algn="l">
              <a:lnSpc>
                <a:spcPts val="2583"/>
              </a:lnSpc>
            </a:pPr>
          </a:p>
        </p:txBody>
      </p:sp>
      <p:sp>
        <p:nvSpPr>
          <p:cNvPr name="TextBox 25" id="25"/>
          <p:cNvSpPr txBox="true"/>
          <p:nvPr/>
        </p:nvSpPr>
        <p:spPr>
          <a:xfrm rot="0">
            <a:off x="1028700" y="8332832"/>
            <a:ext cx="4273073" cy="2052320"/>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Pada tahap akhir, sistem menghasilkan pengelompokan wilayah berdasarkan tingkat kemiskinan ke dalam beberapa cluster seperti rendah, sedang, dan tinggi, yang menunjukkan pola distribusi kemiskinan di berbagai wilayah Indonesia</a:t>
            </a:r>
          </a:p>
          <a:p>
            <a:pPr algn="l">
              <a:lnSpc>
                <a:spcPts val="2380"/>
              </a:lnSpc>
            </a:pPr>
          </a:p>
        </p:txBody>
      </p:sp>
      <p:sp>
        <p:nvSpPr>
          <p:cNvPr name="TextBox 26" id="26"/>
          <p:cNvSpPr txBox="true"/>
          <p:nvPr/>
        </p:nvSpPr>
        <p:spPr>
          <a:xfrm rot="0">
            <a:off x="6439316" y="8291853"/>
            <a:ext cx="4273073" cy="1757045"/>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Hasil clustering kemudian divisualisasikan dalam bentuk grafik, tabel, atau peta berwarna untuk mempermudah interpretasi, sehingga perbedaan tingkat kemiskinan antar wilayah dapat terlihat dengan jelas.</a:t>
            </a:r>
          </a:p>
          <a:p>
            <a:pPr algn="l">
              <a:lnSpc>
                <a:spcPts val="238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9993" y="1499563"/>
            <a:ext cx="14723605" cy="5871038"/>
          </a:xfrm>
          <a:custGeom>
            <a:avLst/>
            <a:gdLst/>
            <a:ahLst/>
            <a:cxnLst/>
            <a:rect r="r" b="b" t="t" l="l"/>
            <a:pathLst>
              <a:path h="5871038" w="14723605">
                <a:moveTo>
                  <a:pt x="0" y="0"/>
                </a:moveTo>
                <a:lnTo>
                  <a:pt x="14723605" y="0"/>
                </a:lnTo>
                <a:lnTo>
                  <a:pt x="14723605" y="5871038"/>
                </a:lnTo>
                <a:lnTo>
                  <a:pt x="0" y="5871038"/>
                </a:lnTo>
                <a:lnTo>
                  <a:pt x="0" y="0"/>
                </a:lnTo>
                <a:close/>
              </a:path>
            </a:pathLst>
          </a:custGeom>
          <a:blipFill>
            <a:blip r:embed="rId2"/>
            <a:stretch>
              <a:fillRect l="0" t="0" r="0" b="0"/>
            </a:stretch>
          </a:blipFill>
        </p:spPr>
      </p:sp>
      <p:sp>
        <p:nvSpPr>
          <p:cNvPr name="TextBox 3" id="3"/>
          <p:cNvSpPr txBox="true"/>
          <p:nvPr/>
        </p:nvSpPr>
        <p:spPr>
          <a:xfrm rot="0">
            <a:off x="2451842" y="444953"/>
            <a:ext cx="14807458" cy="105461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output  akhir yang di harapkan</a:t>
            </a:r>
          </a:p>
        </p:txBody>
      </p:sp>
      <p:sp>
        <p:nvSpPr>
          <p:cNvPr name="TextBox 4" id="4"/>
          <p:cNvSpPr txBox="true"/>
          <p:nvPr/>
        </p:nvSpPr>
        <p:spPr>
          <a:xfrm rot="0">
            <a:off x="773719" y="7557783"/>
            <a:ext cx="16616153" cy="2380615"/>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output akhir yang kami harapkan adalah gambar peta berwarna, jika warna kuning maka miskin, dan warna merah sangat miskin, gambar diatas masih belum sempurna dan kami akan terus mencoba sampai menemukan hasil yang memuaskan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99665" y="1028700"/>
            <a:ext cx="8259635" cy="8229600"/>
          </a:xfrm>
          <a:custGeom>
            <a:avLst/>
            <a:gdLst/>
            <a:ahLst/>
            <a:cxnLst/>
            <a:rect r="r" b="b" t="t" l="l"/>
            <a:pathLst>
              <a:path h="8229600" w="8259635">
                <a:moveTo>
                  <a:pt x="0" y="0"/>
                </a:moveTo>
                <a:lnTo>
                  <a:pt x="8259635" y="0"/>
                </a:lnTo>
                <a:lnTo>
                  <a:pt x="8259635"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28700" y="7718033"/>
            <a:ext cx="228600" cy="2286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49864"/>
            </a:solidFill>
          </p:spPr>
        </p:sp>
        <p:sp>
          <p:nvSpPr>
            <p:cNvPr name="TextBox 6" id="6"/>
            <p:cNvSpPr txBox="true"/>
            <p:nvPr/>
          </p:nvSpPr>
          <p:spPr>
            <a:xfrm>
              <a:off x="76200" y="133350"/>
              <a:ext cx="660400" cy="603250"/>
            </a:xfrm>
            <a:prstGeom prst="rect">
              <a:avLst/>
            </a:prstGeom>
          </p:spPr>
          <p:txBody>
            <a:bodyPr anchor="ctr" rtlCol="false" tIns="50800" lIns="50800" bIns="50800" rIns="50800"/>
            <a:lstStyle/>
            <a:p>
              <a:pPr algn="ctr">
                <a:lnSpc>
                  <a:spcPts val="1827"/>
                </a:lnSpc>
              </a:pPr>
            </a:p>
          </p:txBody>
        </p:sp>
      </p:grpSp>
      <p:sp>
        <p:nvSpPr>
          <p:cNvPr name="TextBox 7" id="7"/>
          <p:cNvSpPr txBox="true"/>
          <p:nvPr/>
        </p:nvSpPr>
        <p:spPr>
          <a:xfrm rot="0">
            <a:off x="1028700" y="4000357"/>
            <a:ext cx="8332616" cy="1745348"/>
          </a:xfrm>
          <a:prstGeom prst="rect">
            <a:avLst/>
          </a:prstGeom>
        </p:spPr>
        <p:txBody>
          <a:bodyPr anchor="t" rtlCol="false" tIns="0" lIns="0" bIns="0" rIns="0">
            <a:spAutoFit/>
          </a:bodyPr>
          <a:lstStyle/>
          <a:p>
            <a:pPr algn="l">
              <a:lnSpc>
                <a:spcPts val="12524"/>
              </a:lnSpc>
            </a:pPr>
            <a:r>
              <a:rPr lang="en-US" sz="14395" spc="-705">
                <a:solidFill>
                  <a:srgbClr val="000000"/>
                </a:solidFill>
                <a:latin typeface="TT Interphases"/>
                <a:ea typeface="TT Interphases"/>
                <a:cs typeface="TT Interphases"/>
                <a:sym typeface="TT Interphases"/>
              </a:rPr>
              <a:t>Thank You</a:t>
            </a:r>
          </a:p>
        </p:txBody>
      </p:sp>
      <p:sp>
        <p:nvSpPr>
          <p:cNvPr name="TextBox 8" id="8"/>
          <p:cNvSpPr txBox="true"/>
          <p:nvPr/>
        </p:nvSpPr>
        <p:spPr>
          <a:xfrm rot="0">
            <a:off x="1566219" y="1108262"/>
            <a:ext cx="2033411"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Borcelle</a:t>
            </a:r>
          </a:p>
        </p:txBody>
      </p:sp>
      <p:sp>
        <p:nvSpPr>
          <p:cNvPr name="TextBox 9" id="9"/>
          <p:cNvSpPr txBox="true"/>
          <p:nvPr/>
        </p:nvSpPr>
        <p:spPr>
          <a:xfrm rot="0">
            <a:off x="1566219" y="7708508"/>
            <a:ext cx="2411694" cy="266319"/>
          </a:xfrm>
          <a:prstGeom prst="rect">
            <a:avLst/>
          </a:prstGeom>
        </p:spPr>
        <p:txBody>
          <a:bodyPr anchor="t" rtlCol="false" tIns="0" lIns="0" bIns="0" rIns="0">
            <a:spAutoFit/>
          </a:bodyPr>
          <a:lstStyle/>
          <a:p>
            <a:pPr algn="l">
              <a:lnSpc>
                <a:spcPts val="2193"/>
              </a:lnSpc>
            </a:pPr>
            <a:r>
              <a:rPr lang="en-US" sz="1700" spc="-51">
                <a:solidFill>
                  <a:srgbClr val="000000"/>
                </a:solidFill>
                <a:latin typeface="TT Interphases"/>
                <a:ea typeface="TT Interphases"/>
                <a:cs typeface="TT Interphases"/>
                <a:sym typeface="TT Interphases"/>
              </a:rPr>
              <a:t>+123-456-7890</a:t>
            </a:r>
          </a:p>
        </p:txBody>
      </p:sp>
      <p:sp>
        <p:nvSpPr>
          <p:cNvPr name="TextBox 10" id="10"/>
          <p:cNvSpPr txBox="true"/>
          <p:nvPr/>
        </p:nvSpPr>
        <p:spPr>
          <a:xfrm rot="0">
            <a:off x="1566219" y="8991981"/>
            <a:ext cx="3011896" cy="266319"/>
          </a:xfrm>
          <a:prstGeom prst="rect">
            <a:avLst/>
          </a:prstGeom>
        </p:spPr>
        <p:txBody>
          <a:bodyPr anchor="t" rtlCol="false" tIns="0" lIns="0" bIns="0" rIns="0">
            <a:spAutoFit/>
          </a:bodyPr>
          <a:lstStyle/>
          <a:p>
            <a:pPr algn="l">
              <a:lnSpc>
                <a:spcPts val="2193"/>
              </a:lnSpc>
            </a:pPr>
            <a:r>
              <a:rPr lang="en-US" sz="1700" spc="-51">
                <a:solidFill>
                  <a:srgbClr val="000000"/>
                </a:solidFill>
                <a:latin typeface="TT Interphases"/>
                <a:ea typeface="TT Interphases"/>
                <a:cs typeface="TT Interphases"/>
                <a:sym typeface="TT Interphases"/>
              </a:rPr>
              <a:t>www.reallygreatsite.com</a:t>
            </a:r>
          </a:p>
        </p:txBody>
      </p:sp>
      <p:sp>
        <p:nvSpPr>
          <p:cNvPr name="TextBox 11" id="11"/>
          <p:cNvSpPr txBox="true"/>
          <p:nvPr/>
        </p:nvSpPr>
        <p:spPr>
          <a:xfrm rot="0">
            <a:off x="1566219" y="8350245"/>
            <a:ext cx="2790756" cy="266319"/>
          </a:xfrm>
          <a:prstGeom prst="rect">
            <a:avLst/>
          </a:prstGeom>
        </p:spPr>
        <p:txBody>
          <a:bodyPr anchor="t" rtlCol="false" tIns="0" lIns="0" bIns="0" rIns="0">
            <a:spAutoFit/>
          </a:bodyPr>
          <a:lstStyle/>
          <a:p>
            <a:pPr algn="l">
              <a:lnSpc>
                <a:spcPts val="2193"/>
              </a:lnSpc>
            </a:pPr>
            <a:r>
              <a:rPr lang="en-US" sz="1700" spc="-51">
                <a:solidFill>
                  <a:srgbClr val="000000"/>
                </a:solidFill>
                <a:latin typeface="TT Interphases"/>
                <a:ea typeface="TT Interphases"/>
                <a:cs typeface="TT Interphases"/>
                <a:sym typeface="TT Interphases"/>
              </a:rPr>
              <a:t>hello@reallygreatsite.com</a:t>
            </a:r>
          </a:p>
        </p:txBody>
      </p:sp>
      <p:grpSp>
        <p:nvGrpSpPr>
          <p:cNvPr name="Group 12" id="12"/>
          <p:cNvGrpSpPr/>
          <p:nvPr/>
        </p:nvGrpSpPr>
        <p:grpSpPr>
          <a:xfrm rot="0">
            <a:off x="1028700" y="8373867"/>
            <a:ext cx="228600" cy="2286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79E3"/>
            </a:solidFill>
          </p:spPr>
        </p:sp>
        <p:sp>
          <p:nvSpPr>
            <p:cNvPr name="TextBox 14" id="14"/>
            <p:cNvSpPr txBox="true"/>
            <p:nvPr/>
          </p:nvSpPr>
          <p:spPr>
            <a:xfrm>
              <a:off x="76200" y="133350"/>
              <a:ext cx="660400" cy="603250"/>
            </a:xfrm>
            <a:prstGeom prst="rect">
              <a:avLst/>
            </a:prstGeom>
          </p:spPr>
          <p:txBody>
            <a:bodyPr anchor="ctr" rtlCol="false" tIns="50800" lIns="50800" bIns="50800" rIns="50800"/>
            <a:lstStyle/>
            <a:p>
              <a:pPr algn="ctr">
                <a:lnSpc>
                  <a:spcPts val="1827"/>
                </a:lnSpc>
              </a:pPr>
            </a:p>
          </p:txBody>
        </p:sp>
      </p:grpSp>
      <p:grpSp>
        <p:nvGrpSpPr>
          <p:cNvPr name="Group 15" id="15"/>
          <p:cNvGrpSpPr/>
          <p:nvPr/>
        </p:nvGrpSpPr>
        <p:grpSpPr>
          <a:xfrm rot="0">
            <a:off x="1028700" y="9029700"/>
            <a:ext cx="228600" cy="2286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9842"/>
            </a:solidFill>
          </p:spPr>
        </p:sp>
        <p:sp>
          <p:nvSpPr>
            <p:cNvPr name="TextBox 17" id="17"/>
            <p:cNvSpPr txBox="true"/>
            <p:nvPr/>
          </p:nvSpPr>
          <p:spPr>
            <a:xfrm>
              <a:off x="76200" y="133350"/>
              <a:ext cx="660400" cy="603250"/>
            </a:xfrm>
            <a:prstGeom prst="rect">
              <a:avLst/>
            </a:prstGeom>
          </p:spPr>
          <p:txBody>
            <a:bodyPr anchor="ctr" rtlCol="false" tIns="50800" lIns="50800" bIns="50800" rIns="50800"/>
            <a:lstStyle/>
            <a:p>
              <a:pPr algn="ctr">
                <a:lnSpc>
                  <a:spcPts val="1827"/>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DAHKlsk8fAE</dc:identifier>
  <dcterms:modified xsi:type="dcterms:W3CDTF">2011-08-01T06:04:30Z</dcterms:modified>
  <cp:revision>1</cp:revision>
  <dc:title>Green and White Simple Illustrative Data Analytics Presentation</dc:title>
</cp:coreProperties>
</file>